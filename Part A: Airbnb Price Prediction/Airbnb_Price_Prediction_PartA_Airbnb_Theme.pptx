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7" r:id="rId2"/>
    <p:sldId id="256" r:id="rId3"/>
    <p:sldId id="257" r:id="rId4"/>
    <p:sldId id="258" r:id="rId5"/>
    <p:sldId id="269" r:id="rId6"/>
    <p:sldId id="268" r:id="rId7"/>
    <p:sldId id="270" r:id="rId8"/>
    <p:sldId id="273" r:id="rId9"/>
    <p:sldId id="259" r:id="rId10"/>
    <p:sldId id="260" r:id="rId11"/>
    <p:sldId id="261" r:id="rId12"/>
    <p:sldId id="271" r:id="rId13"/>
    <p:sldId id="274" r:id="rId14"/>
    <p:sldId id="262" r:id="rId15"/>
    <p:sldId id="266" r:id="rId16"/>
    <p:sldId id="275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-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26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436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4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57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2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2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62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54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75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09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75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7736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972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459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94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448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1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88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18DC7-1CF6-7D5B-80E1-EA6B66D5D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461" y="869061"/>
            <a:ext cx="7735077" cy="782215"/>
          </a:xfrm>
        </p:spPr>
        <p:txBody>
          <a:bodyPr/>
          <a:lstStyle/>
          <a:p>
            <a:pPr algn="ctr"/>
            <a:r>
              <a:rPr lang="en-US" sz="2400" b="1" i="0" u="none" strike="noStrike" baseline="0" dirty="0">
                <a:solidFill>
                  <a:srgbClr val="00B1F1"/>
                </a:solidFill>
                <a:latin typeface="Arial-BoldMT"/>
              </a:rPr>
              <a:t>Project- Part A: Airbnb Price Prediction and Insights</a:t>
            </a: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55C8A-DB33-9868-199F-BA721C082D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60" y="5206724"/>
            <a:ext cx="8674619" cy="861420"/>
          </a:xfrm>
        </p:spPr>
        <p:txBody>
          <a:bodyPr>
            <a:normAutofit/>
          </a:bodyPr>
          <a:lstStyle/>
          <a:p>
            <a:r>
              <a:rPr lang="en-US" dirty="0"/>
              <a:t>Submitted by: Satish Kumar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0FC6D-201D-6F9C-3F50-48BEF9C7B8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6" b="42899"/>
          <a:stretch/>
        </p:blipFill>
        <p:spPr>
          <a:xfrm>
            <a:off x="847780" y="1651276"/>
            <a:ext cx="7591757" cy="332958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A27C96A-D388-DA5E-10C1-228C0FA2E637}"/>
              </a:ext>
            </a:extLst>
          </p:cNvPr>
          <p:cNvSpPr txBox="1">
            <a:spLocks/>
          </p:cNvSpPr>
          <p:nvPr/>
        </p:nvSpPr>
        <p:spPr>
          <a:xfrm>
            <a:off x="310761" y="18161"/>
            <a:ext cx="7735077" cy="7822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7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3200" b="1" u="sng" dirty="0">
                <a:solidFill>
                  <a:schemeClr val="tx1"/>
                </a:solidFill>
                <a:latin typeface="Arial-BoldMT"/>
              </a:rPr>
              <a:t>MACHINE LEARNING</a:t>
            </a:r>
            <a:endParaRPr lang="en-IN" sz="320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82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dirty="0"/>
              <a:t>Project</a:t>
            </a:r>
            <a:r>
              <a:rPr lang="en-IN" dirty="0"/>
              <a:t>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09" y="1754346"/>
            <a:ext cx="8524380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u="sng" dirty="0"/>
              <a:t>Airbnb</a:t>
            </a:r>
            <a:r>
              <a:rPr lang="en-US" dirty="0"/>
              <a:t> a platform to</a:t>
            </a:r>
            <a:r>
              <a:rPr dirty="0"/>
              <a:t> helps property owners rent out spaces to travelers.</a:t>
            </a:r>
            <a:endParaRPr lang="en-US" dirty="0"/>
          </a:p>
          <a:p>
            <a:pPr>
              <a:defRPr sz="1800"/>
            </a:pPr>
            <a:endParaRPr lang="en-IN" dirty="0"/>
          </a:p>
          <a:p>
            <a:pPr algn="l"/>
            <a:r>
              <a:rPr lang="en-IN" u="sng" dirty="0"/>
              <a:t>Aim</a:t>
            </a:r>
            <a:r>
              <a:rPr lang="en-IN" dirty="0"/>
              <a:t>: </a:t>
            </a:r>
            <a:r>
              <a:rPr lang="en-US" sz="1800" b="0" i="0" u="none" strike="noStrike" baseline="0" dirty="0">
                <a:latin typeface="ArialMT"/>
              </a:rPr>
              <a:t>to build a machine learning model to predict the price of Airbnb listings</a:t>
            </a:r>
          </a:p>
          <a:p>
            <a:pPr marL="0" indent="0" algn="l">
              <a:buNone/>
            </a:pPr>
            <a:r>
              <a:rPr lang="en-US" sz="1800" dirty="0">
                <a:latin typeface="ArialMT"/>
              </a:rPr>
              <a:t>      B</a:t>
            </a:r>
            <a:r>
              <a:rPr lang="en-US" sz="1800" b="0" i="0" u="none" strike="noStrike" baseline="0" dirty="0">
                <a:latin typeface="ArialMT"/>
              </a:rPr>
              <a:t>ased on various features such as: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                     -property type, </a:t>
            </a:r>
          </a:p>
          <a:p>
            <a:pPr marL="0" indent="0" algn="l">
              <a:buNone/>
            </a:pPr>
            <a:r>
              <a:rPr lang="en-US" sz="1800" dirty="0">
                <a:latin typeface="ArialMT"/>
              </a:rPr>
              <a:t>                     -</a:t>
            </a:r>
            <a:r>
              <a:rPr lang="en-US" sz="1800" b="0" i="0" u="none" strike="noStrike" baseline="0" dirty="0">
                <a:latin typeface="ArialMT"/>
              </a:rPr>
              <a:t>room type, 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                     -location, </a:t>
            </a:r>
          </a:p>
          <a:p>
            <a:pPr marL="0" indent="0" algn="l">
              <a:buNone/>
            </a:pPr>
            <a:r>
              <a:rPr lang="en-US" sz="1800" b="0" i="0" u="none" strike="noStrike" baseline="0" dirty="0">
                <a:latin typeface="ArialMT"/>
              </a:rPr>
              <a:t>                     -amenities,  </a:t>
            </a: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  <a:p>
            <a:pPr marL="0" indent="0" algn="l">
              <a:buNone/>
            </a:pPr>
            <a:r>
              <a:rPr lang="en-US" sz="1800" u="sng" dirty="0"/>
              <a:t>Goal: </a:t>
            </a:r>
            <a:r>
              <a:rPr lang="en-US" sz="1800" dirty="0"/>
              <a:t>Predict listing prices using property, room type, location, etc.</a:t>
            </a:r>
          </a:p>
          <a:p>
            <a:pPr marL="0" indent="0" algn="l">
              <a:buNone/>
            </a:pPr>
            <a:endParaRPr dirty="0"/>
          </a:p>
          <a:p>
            <a:pPr>
              <a:defRPr sz="1800"/>
            </a:pPr>
            <a:endParaRPr dirty="0"/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403" y="1571709"/>
            <a:ext cx="9111508" cy="4683778"/>
          </a:xfrm>
        </p:spPr>
        <p:txBody>
          <a:bodyPr>
            <a:normAutofit/>
          </a:bodyPr>
          <a:lstStyle/>
          <a:p>
            <a:pPr algn="l"/>
            <a:r>
              <a:rPr lang="en-US" sz="1800" u="sng" dirty="0">
                <a:latin typeface="ArialMT"/>
              </a:rPr>
              <a:t>O</a:t>
            </a:r>
            <a:r>
              <a:rPr lang="en-US" sz="1800" b="0" i="0" u="sng" strike="noStrike" baseline="0" dirty="0">
                <a:latin typeface="ArialMT"/>
              </a:rPr>
              <a:t>bjective: </a:t>
            </a:r>
            <a:r>
              <a:rPr lang="en-US" sz="1800" b="0" i="0" u="none" strike="noStrike" baseline="0" dirty="0">
                <a:latin typeface="ArialMT"/>
              </a:rPr>
              <a:t>to develop a regression model that predicts the price of an Airbnb listing.</a:t>
            </a:r>
          </a:p>
          <a:p>
            <a:pPr marL="0" indent="0" algn="l">
              <a:buNone/>
            </a:pPr>
            <a:endParaRPr lang="en-US" sz="1800" b="0" i="0" u="none" strike="noStrike" baseline="0" dirty="0">
              <a:latin typeface="ArialMT"/>
            </a:endParaRPr>
          </a:p>
          <a:p>
            <a:pPr algn="l"/>
            <a:r>
              <a:rPr dirty="0"/>
              <a:t>Build a regression model to predict Airbnb listing prices accurately.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dirty="0"/>
              <a:t>Provide </a:t>
            </a:r>
            <a:r>
              <a:rPr lang="en-US" dirty="0"/>
              <a:t>Recommendations</a:t>
            </a:r>
            <a:r>
              <a:rPr dirty="0"/>
              <a:t> with insights to set optimal prices and improve</a:t>
            </a:r>
            <a:r>
              <a:rPr lang="en-US" dirty="0"/>
              <a:t> </a:t>
            </a:r>
            <a:r>
              <a:rPr dirty="0"/>
              <a:t>satisfaction.</a:t>
            </a:r>
            <a:endParaRPr lang="en-US" dirty="0"/>
          </a:p>
          <a:p>
            <a:pPr marL="0" indent="0">
              <a:buNone/>
              <a:defRPr sz="1800"/>
            </a:pPr>
            <a:endParaRPr lang="en-US" dirty="0"/>
          </a:p>
          <a:p>
            <a:pPr>
              <a:defRPr sz="1800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1. Data Collection</a:t>
            </a:r>
            <a:br>
              <a:rPr lang="en-US" dirty="0"/>
            </a:br>
            <a:br>
              <a:rPr lang="en-US" dirty="0"/>
            </a:br>
            <a:r>
              <a:rPr dirty="0"/>
              <a:t>Dataset Information</a:t>
            </a:r>
            <a:r>
              <a:rPr lang="en-US" dirty="0"/>
              <a:t>: CSV File</a:t>
            </a:r>
            <a:br>
              <a:rPr lang="en-US" dirty="0"/>
            </a:br>
            <a:r>
              <a:rPr lang="en-US" sz="2400" dirty="0"/>
              <a:t>Load the dataset and IMPORT Python Libraries</a:t>
            </a:r>
            <a:endParaRPr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836696"/>
            <a:ext cx="6711654" cy="4195481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dirty="0"/>
              <a:t>Dataset: Airbnb data</a:t>
            </a:r>
            <a:r>
              <a:rPr lang="en-IN" dirty="0"/>
              <a:t> csv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Includes:</a:t>
            </a:r>
          </a:p>
          <a:p>
            <a:pPr>
              <a:defRPr sz="1800"/>
            </a:pPr>
            <a:r>
              <a:rPr dirty="0"/>
              <a:t>Room Type</a:t>
            </a:r>
          </a:p>
          <a:p>
            <a:pPr>
              <a:defRPr sz="1800"/>
            </a:pPr>
            <a:r>
              <a:rPr dirty="0"/>
              <a:t>Property Type</a:t>
            </a:r>
          </a:p>
          <a:p>
            <a:pPr>
              <a:defRPr sz="1800"/>
            </a:pPr>
            <a:r>
              <a:rPr dirty="0"/>
              <a:t>Amenities</a:t>
            </a:r>
          </a:p>
          <a:p>
            <a:pPr>
              <a:defRPr sz="1800"/>
            </a:pPr>
            <a:r>
              <a:rPr dirty="0"/>
              <a:t>Reviews</a:t>
            </a:r>
          </a:p>
          <a:p>
            <a:pPr>
              <a:defRPr sz="1800"/>
            </a:pPr>
            <a:r>
              <a:rPr dirty="0"/>
              <a:t>Location Info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9D923-40DE-CC2F-9FD0-A7B162E16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56" y="2836697"/>
            <a:ext cx="4661640" cy="26217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14C5-4B26-AEF5-B867-8E00B058A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6289-0CD6-5F8B-35EE-4298F8C4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09" y="452718"/>
            <a:ext cx="7310175" cy="1400530"/>
          </a:xfrm>
        </p:spPr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2. Data Cleaning</a:t>
            </a:r>
            <a:br>
              <a:rPr lang="en-US" dirty="0"/>
            </a:b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FBBF7-92F3-1704-4918-9230FA34F5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853248"/>
            <a:ext cx="6711654" cy="4195481"/>
          </a:xfrm>
        </p:spPr>
        <p:txBody>
          <a:bodyPr/>
          <a:lstStyle/>
          <a:p>
            <a:pPr>
              <a:defRPr sz="1800"/>
            </a:pPr>
            <a:r>
              <a:rPr lang="en-US" dirty="0"/>
              <a:t>Finding Missing values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Null values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DE8E5B-A468-43ED-5885-BE7BF40CB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587" y="1355163"/>
            <a:ext cx="3812010" cy="505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81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32476-2CE0-6E64-30DB-2FCF796FE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953C-AFFA-913B-81A8-0D85D777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3. Data Exploratory and Analysis</a:t>
            </a:r>
            <a:br>
              <a:rPr lang="en-US" dirty="0"/>
            </a:b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72F61-E333-3F3C-92B0-A0CD1F0CD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631062"/>
            <a:ext cx="8449428" cy="4195481"/>
          </a:xfrm>
        </p:spPr>
        <p:txBody>
          <a:bodyPr>
            <a:normAutofit lnSpcReduction="10000"/>
          </a:bodyPr>
          <a:lstStyle/>
          <a:p>
            <a:pPr>
              <a:defRPr sz="1800"/>
            </a:pPr>
            <a:r>
              <a:rPr lang="en-US" dirty="0"/>
              <a:t>Distribution of Log Price: shows Smooth Distribution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Distribution of Room Types: Majority listings are Entire Home/Apartment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Numeric features: like Average Log Prices, Mostly are Entire Home/Apt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Correlated: More Bathrooms with Higher Prices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Reviews: Mid Ranges Price-Higher no. of Reviews while Luxury fewer.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Geographic: cluster shows near major cities  with distinct Room Types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8310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CDA3C-290D-CDDF-AB20-E12515ED4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B784B-65C6-1AD5-FCAF-AE6CAF4DA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26376"/>
          </a:xfrm>
        </p:spPr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4. Data Preprocessing</a:t>
            </a:r>
            <a:br>
              <a:rPr lang="en-US" dirty="0"/>
            </a:br>
            <a:br>
              <a:rPr lang="en-US" dirty="0"/>
            </a:br>
            <a:r>
              <a:rPr lang="en-US" sz="2400" dirty="0">
                <a:solidFill>
                  <a:schemeClr val="tx1"/>
                </a:solidFill>
              </a:rPr>
              <a:t>Boxplot Outlier Analysis</a:t>
            </a: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E3745-07BF-308E-84EA-89E733B61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09" y="2004164"/>
            <a:ext cx="8329507" cy="377474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1800"/>
            </a:pPr>
            <a:r>
              <a:rPr lang="en-US" u="sng" dirty="0"/>
              <a:t>Outliers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Handling missing values for numeric and non-numeric columns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Handling Outliers: Accommodation, Rooms, Reviews, Ratings, </a:t>
            </a:r>
          </a:p>
          <a:p>
            <a:pPr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u="sng" dirty="0"/>
              <a:t>Listing the prices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Outliers exit for luxury accommodations with fewer guest capacities,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Co-relates: Higher guest capacity with Higher Prices.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6908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99CE-136A-BB43-F5FB-F8F0E7DE8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1114-639A-8C11-23EF-BD3EC416C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26376"/>
          </a:xfrm>
        </p:spPr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5. Feature Engineering</a:t>
            </a:r>
            <a:br>
              <a:rPr lang="en-US" dirty="0"/>
            </a:br>
            <a:br>
              <a:rPr lang="en-US" dirty="0"/>
            </a:br>
            <a:r>
              <a:rPr lang="en-US" sz="2400" dirty="0">
                <a:solidFill>
                  <a:schemeClr val="tx1"/>
                </a:solidFill>
              </a:rPr>
              <a:t>Amenities Column</a:t>
            </a:r>
            <a:br>
              <a:rPr lang="en-US" dirty="0"/>
            </a:br>
            <a:endParaRPr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FFE4D-E7AA-F684-AA8C-26836E8FA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09" y="2004164"/>
            <a:ext cx="8329507" cy="3774742"/>
          </a:xfr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lang="en-US" dirty="0"/>
              <a:t>Summary of the Column                           Correlation Heatmap</a:t>
            </a:r>
          </a:p>
          <a:p>
            <a:pPr>
              <a:defRPr sz="1800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A503EB-AC8D-5414-08DC-D9EEE3E60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82" y="2918563"/>
            <a:ext cx="3808628" cy="3589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8237A9-828C-0CF7-4169-A6D12C6AF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681" y="2918564"/>
            <a:ext cx="3999609" cy="35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15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6. Data Modeling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138" y="1331259"/>
            <a:ext cx="7999723" cy="4195481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dirty="0"/>
              <a:t>Select and Define the Features and Target</a:t>
            </a:r>
          </a:p>
          <a:p>
            <a:pPr>
              <a:defRPr sz="1800"/>
            </a:pPr>
            <a:endParaRPr lang="en-US" dirty="0"/>
          </a:p>
          <a:p>
            <a:pPr>
              <a:defRPr sz="1800"/>
            </a:pPr>
            <a:r>
              <a:rPr lang="en-US" dirty="0"/>
              <a:t>Split data into training and testing sets</a:t>
            </a:r>
          </a:p>
          <a:p>
            <a:pPr marL="0" indent="0">
              <a:buNone/>
              <a:defRPr sz="1800"/>
            </a:pPr>
            <a:endParaRPr lang="en-IN" dirty="0"/>
          </a:p>
          <a:p>
            <a:pPr marL="0" indent="0">
              <a:buNone/>
              <a:defRPr sz="1800"/>
            </a:pPr>
            <a:r>
              <a:rPr dirty="0"/>
              <a:t>1. Data exploration &amp; preprocessing</a:t>
            </a:r>
            <a:r>
              <a:rPr lang="en-US" dirty="0"/>
              <a:t>: Feature Engineering</a:t>
            </a:r>
          </a:p>
          <a:p>
            <a:pPr marL="0" indent="0">
              <a:buNone/>
              <a:defRPr sz="1800"/>
            </a:pPr>
            <a:endParaRPr dirty="0"/>
          </a:p>
          <a:p>
            <a:pPr marL="0" indent="0">
              <a:buNone/>
              <a:defRPr sz="1800"/>
            </a:pPr>
            <a:r>
              <a:rPr dirty="0"/>
              <a:t>2.</a:t>
            </a:r>
            <a:r>
              <a:rPr lang="en-US" dirty="0"/>
              <a:t> Linear</a:t>
            </a:r>
            <a:r>
              <a:rPr dirty="0"/>
              <a:t> Regression model</a:t>
            </a:r>
            <a:r>
              <a:rPr lang="en-US" dirty="0"/>
              <a:t>, Random Forest, </a:t>
            </a:r>
          </a:p>
          <a:p>
            <a:pPr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r>
              <a:rPr lang="en-US" dirty="0"/>
              <a:t>3. Gradient Boosted Decision Tree (GBDT): Extreme Gradient Boosting</a:t>
            </a:r>
          </a:p>
          <a:p>
            <a:pPr marL="0" indent="0">
              <a:buNone/>
              <a:defRPr sz="1800"/>
            </a:pPr>
            <a:r>
              <a:rPr lang="en-US" dirty="0"/>
              <a:t>      (XG Boost)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7. Data Evaluation: </a:t>
            </a:r>
            <a:r>
              <a:rPr lang="en-US" sz="2800" dirty="0"/>
              <a:t>Cross</a:t>
            </a:r>
            <a:r>
              <a:rPr lang="en-US" dirty="0"/>
              <a:t> </a:t>
            </a:r>
            <a:r>
              <a:rPr lang="en-US" sz="2800" dirty="0"/>
              <a:t>Validation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Results: </a:t>
            </a:r>
            <a:r>
              <a:rPr lang="en-US" sz="1600" b="1" dirty="0">
                <a:solidFill>
                  <a:schemeClr val="tx1"/>
                </a:solidFill>
              </a:rPr>
              <a:t>Linear Regression provided the best R², but ensemble methods like Random Forest showed better overall </a:t>
            </a:r>
            <a:r>
              <a:rPr lang="en-US" sz="1800" b="1" dirty="0">
                <a:solidFill>
                  <a:schemeClr val="tx1"/>
                </a:solidFill>
              </a:rPr>
              <a:t>robustness.</a:t>
            </a:r>
            <a:br>
              <a:rPr lang="en-US" dirty="0"/>
            </a:br>
            <a:endParaRPr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A4102B9-ACF9-B201-CE02-18A7F6FF8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776" y="2480153"/>
            <a:ext cx="7954028" cy="36828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8. </a:t>
            </a:r>
            <a:r>
              <a:rPr lang="en-US" sz="2800" dirty="0"/>
              <a:t>Model Selection and Comparison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691" y="1331259"/>
            <a:ext cx="8746617" cy="4195481"/>
          </a:xfrm>
        </p:spPr>
        <p:txBody>
          <a:bodyPr/>
          <a:lstStyle/>
          <a:p>
            <a:pPr>
              <a:defRPr sz="1800"/>
            </a:pPr>
            <a:r>
              <a:rPr lang="en-US" dirty="0"/>
              <a:t>Hyperparameter Tuning: Best Model methods to deliver strong predictions.</a:t>
            </a:r>
            <a:endParaRPr dirty="0"/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EF2A0A-EA2C-C86E-E946-A74D7DE35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3" y="1853248"/>
            <a:ext cx="8474174" cy="4673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2526C-1A94-DAC8-7397-FE5BF9F1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F5289-F5C9-7614-837E-6A2EB815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9. </a:t>
            </a:r>
            <a:r>
              <a:rPr lang="en-US" sz="2800" dirty="0"/>
              <a:t>Final Model Selection &amp; Evaluation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1F3C6-0D45-41BD-AE69-7F38A4F64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331259"/>
            <a:ext cx="7866595" cy="4195481"/>
          </a:xfrm>
        </p:spPr>
        <p:txBody>
          <a:bodyPr/>
          <a:lstStyle/>
          <a:p>
            <a:pPr>
              <a:defRPr sz="1800"/>
            </a:pPr>
            <a:r>
              <a:rPr lang="en-US" b="1" dirty="0"/>
              <a:t>Gradient Boosting Model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B8AE0D-4C0D-AF9A-5FF4-AED6B0256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694" y="2152539"/>
            <a:ext cx="7674901" cy="370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02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3C8E0-14BB-BDFA-7951-92567ADBA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35CF8-8BD6-95DD-E10B-4C3177C7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US" dirty="0"/>
              <a:t>10. </a:t>
            </a:r>
            <a:r>
              <a:rPr lang="en-US" sz="3200" dirty="0"/>
              <a:t>Prediction: Enter User Input</a:t>
            </a:r>
            <a:endParaRPr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85FF4-CEC8-4FA9-FC95-9CDCCBF8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10" y="1331259"/>
            <a:ext cx="7866595" cy="4195481"/>
          </a:xfrm>
        </p:spPr>
        <p:txBody>
          <a:bodyPr/>
          <a:lstStyle/>
          <a:p>
            <a:pPr>
              <a:defRPr sz="1800"/>
            </a:pPr>
            <a:r>
              <a:rPr lang="en-US" b="1" dirty="0"/>
              <a:t>Gradient Boosting Model</a:t>
            </a:r>
          </a:p>
          <a:p>
            <a:pPr marL="0" indent="0">
              <a:buNone/>
              <a:defRPr sz="1800"/>
            </a:pPr>
            <a:endParaRPr lang="en-US" dirty="0"/>
          </a:p>
          <a:p>
            <a:pPr marL="0" indent="0">
              <a:buNone/>
              <a:defRPr sz="18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5D288-7745-7986-32F6-5421E8BD2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273" y="1853248"/>
            <a:ext cx="7777322" cy="2897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9E6C31-A94B-5D23-5B33-9B42BCB17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73" y="5028173"/>
            <a:ext cx="7866595" cy="14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98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dirty="0"/>
              <a:t>Key Insight</a:t>
            </a:r>
            <a:r>
              <a:rPr lang="en-IN" dirty="0"/>
              <a:t>s</a:t>
            </a:r>
            <a:r>
              <a:rPr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09" y="1331259"/>
            <a:ext cx="8020463" cy="5169749"/>
          </a:xfrm>
        </p:spPr>
        <p:txBody>
          <a:bodyPr>
            <a:normAutofit fontScale="92500" lnSpcReduction="20000"/>
          </a:bodyPr>
          <a:lstStyle/>
          <a:p>
            <a:pPr>
              <a:defRPr sz="1800"/>
            </a:pPr>
            <a:r>
              <a:rPr lang="en-US" dirty="0"/>
              <a:t>Room Type and Prototype are important factors affecting Airbnb prices.</a:t>
            </a:r>
          </a:p>
          <a:p>
            <a:pPr marL="0" indent="0">
              <a:buNone/>
              <a:defRPr sz="1800"/>
            </a:pPr>
            <a:endParaRPr dirty="0"/>
          </a:p>
          <a:p>
            <a:pPr>
              <a:defRPr sz="1800"/>
            </a:pPr>
            <a:r>
              <a:rPr lang="en-US" sz="1800" b="1" dirty="0"/>
              <a:t>Neighborhood/location</a:t>
            </a:r>
            <a:r>
              <a:rPr lang="en-US" sz="1800" dirty="0"/>
              <a:t> plays a significant role in determining </a:t>
            </a:r>
            <a:r>
              <a:rPr lang="en-US" sz="1800" b="1" dirty="0"/>
              <a:t>listing prices</a:t>
            </a:r>
            <a:r>
              <a:rPr lang="en-US" sz="1800" dirty="0"/>
              <a:t>.</a:t>
            </a:r>
          </a:p>
          <a:p>
            <a:pPr marL="0" indent="0">
              <a:buNone/>
              <a:defRPr sz="1800"/>
            </a:pPr>
            <a:endParaRPr dirty="0"/>
          </a:p>
          <a:p>
            <a:r>
              <a:rPr lang="en-US" b="1" dirty="0"/>
              <a:t>Number of reviews</a:t>
            </a:r>
            <a:r>
              <a:rPr lang="en-US" dirty="0"/>
              <a:t> provides useful information about listing activity, but more reviews do not necessarily mean </a:t>
            </a:r>
            <a:r>
              <a:rPr lang="en-US" b="1" dirty="0"/>
              <a:t>higher prices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Gradient Boosting</a:t>
            </a:r>
            <a:r>
              <a:rPr lang="en-IN" dirty="0"/>
              <a:t> performed best after hyperparameter tuning.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Final model performance</a:t>
            </a:r>
            <a:r>
              <a:rPr lang="en-IN" dirty="0"/>
              <a:t>: R²: </a:t>
            </a:r>
            <a:r>
              <a:rPr lang="en-IN" b="1" dirty="0"/>
              <a:t>0.5533</a:t>
            </a:r>
            <a:r>
              <a:rPr lang="en-IN" dirty="0"/>
              <a:t> RMSE: </a:t>
            </a:r>
            <a:r>
              <a:rPr lang="en-IN" b="1" dirty="0"/>
              <a:t>0.4374</a:t>
            </a:r>
            <a:r>
              <a:rPr lang="en-IN" dirty="0"/>
              <a:t> MAE: </a:t>
            </a:r>
            <a:r>
              <a:rPr lang="en-IN" b="1" dirty="0"/>
              <a:t>0.3359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The model can predict prices for new Airbnb listings, such as the demonstrated </a:t>
            </a:r>
            <a:r>
              <a:rPr lang="en-US" b="1" dirty="0"/>
              <a:t>$136.92/night prediction</a:t>
            </a:r>
            <a:r>
              <a:rPr lang="en-US" dirty="0"/>
              <a:t>.</a:t>
            </a:r>
            <a:br>
              <a:rPr lang="en-US" dirty="0"/>
            </a:br>
            <a:endParaRPr lang="en-IN" dirty="0"/>
          </a:p>
          <a:p>
            <a:pPr>
              <a:defRPr sz="1800"/>
            </a:pPr>
            <a:endParaRPr lang="en-IN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09" y="1288838"/>
            <a:ext cx="8421295" cy="532490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Hosts should compare their price with similar properties in the same neighborhood.</a:t>
            </a:r>
          </a:p>
          <a:p>
            <a:endParaRPr lang="en-US" dirty="0"/>
          </a:p>
          <a:p>
            <a:r>
              <a:rPr lang="en-US" dirty="0"/>
              <a:t>Providing and highlighting useful amenities can support competitive pricing.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 the model as a pricing benchmark, not as an exact guaranteed price.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Add more features such as accommodates, bedrooms, bathrooms, beds, review rating, and location coordinates to improve prediction accuracy.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Improve amenities count by identifying specific amenities such as Wi-Fi, parking, pool, kitchen, and air conditioning.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premium/luxury listings separately, because the model may underpredict some high-priced properties.</a:t>
            </a:r>
          </a:p>
          <a:p>
            <a:pPr>
              <a:defRPr sz="1800"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25B01-62CC-82C6-3CDE-810B7A44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8A41D-F46C-542B-B11A-5B0355C8D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5A5F"/>
                </a:solidFill>
              </a:defRPr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5BAF2-0F9B-1614-956F-6DC9F0E6C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709" y="1288838"/>
            <a:ext cx="8423621" cy="4338964"/>
          </a:xfrm>
        </p:spPr>
        <p:txBody>
          <a:bodyPr>
            <a:normAutofit/>
          </a:bodyPr>
          <a:lstStyle/>
          <a:p>
            <a:pPr marL="0" indent="0" algn="just">
              <a:buNone/>
              <a:defRPr sz="1800"/>
            </a:pPr>
            <a:endParaRPr lang="en-US" sz="1800" dirty="0"/>
          </a:p>
          <a:p>
            <a:pPr marL="0" indent="0" algn="just">
              <a:buNone/>
              <a:defRPr sz="1800"/>
            </a:pPr>
            <a:endParaRPr lang="en-US" sz="1800" dirty="0"/>
          </a:p>
          <a:p>
            <a:pPr marL="0" indent="0">
              <a:buNone/>
              <a:defRPr sz="1800"/>
            </a:pPr>
            <a:r>
              <a:rPr lang="en-US" sz="1800" dirty="0"/>
              <a:t>This project developed an </a:t>
            </a:r>
            <a:r>
              <a:rPr lang="en-US" sz="1800" b="1" dirty="0"/>
              <a:t>Interactive Prototype</a:t>
            </a:r>
            <a:r>
              <a:rPr lang="en-US" sz="1800" dirty="0"/>
              <a:t> with </a:t>
            </a:r>
            <a:r>
              <a:rPr lang="en-US" sz="1800" b="1" dirty="0"/>
              <a:t>analytical pipeline</a:t>
            </a:r>
            <a:r>
              <a:rPr lang="en-US" sz="1800" dirty="0"/>
              <a:t> in </a:t>
            </a:r>
            <a:r>
              <a:rPr lang="en-US" sz="1800" b="1" dirty="0"/>
              <a:t>Airbnb price prediction system</a:t>
            </a:r>
            <a:r>
              <a:rPr lang="en-US" sz="1800" dirty="0"/>
              <a:t> using </a:t>
            </a:r>
          </a:p>
          <a:p>
            <a:pPr marL="0" indent="0">
              <a:buNone/>
              <a:defRPr sz="1800"/>
            </a:pPr>
            <a:r>
              <a:rPr lang="en-US" sz="1800" b="1" dirty="0"/>
              <a:t>data preprocessing</a:t>
            </a:r>
            <a:r>
              <a:rPr lang="en-US" sz="1800" dirty="0"/>
              <a:t>, </a:t>
            </a:r>
            <a:r>
              <a:rPr lang="en-US" sz="1800" b="1" dirty="0"/>
              <a:t>exploratory data analysis</a:t>
            </a:r>
            <a:r>
              <a:rPr lang="en-US" sz="1800" dirty="0"/>
              <a:t>, </a:t>
            </a:r>
            <a:r>
              <a:rPr lang="en-US" sz="1800" b="1" dirty="0"/>
              <a:t>feature engineering</a:t>
            </a:r>
            <a:r>
              <a:rPr lang="en-US" sz="1800" dirty="0"/>
              <a:t>, </a:t>
            </a:r>
            <a:r>
              <a:rPr lang="en-US" sz="1800" b="1" dirty="0"/>
              <a:t>model comparison</a:t>
            </a:r>
            <a:r>
              <a:rPr lang="en-US" sz="1800" dirty="0"/>
              <a:t>, and </a:t>
            </a:r>
            <a:r>
              <a:rPr lang="en-US" sz="1800" b="1" dirty="0"/>
              <a:t>hyperparameter tuning</a:t>
            </a:r>
            <a:r>
              <a:rPr lang="en-US" sz="1800" dirty="0"/>
              <a:t>. </a:t>
            </a:r>
            <a:endParaRPr lang="en-US" sz="1800" b="1" dirty="0"/>
          </a:p>
          <a:p>
            <a:pPr marL="0" indent="0">
              <a:buNone/>
              <a:defRPr sz="1800"/>
            </a:pPr>
            <a:endParaRPr lang="en-US" sz="1800" b="1" dirty="0"/>
          </a:p>
          <a:p>
            <a:pPr marL="0" indent="0" algn="just">
              <a:buNone/>
              <a:defRPr sz="1800"/>
            </a:pPr>
            <a:r>
              <a:rPr lang="en-US" sz="1800" b="1" dirty="0"/>
              <a:t>The final tuned Gradient Boosting model</a:t>
            </a:r>
            <a:r>
              <a:rPr lang="en-US" sz="1800" dirty="0"/>
              <a:t> achieved an </a:t>
            </a:r>
            <a:r>
              <a:rPr lang="en-US" sz="1800" b="1" dirty="0"/>
              <a:t>R²</a:t>
            </a:r>
            <a:r>
              <a:rPr lang="en-US" sz="1800" dirty="0"/>
              <a:t> of </a:t>
            </a:r>
            <a:r>
              <a:rPr lang="en-US" sz="1800" b="1" dirty="0"/>
              <a:t>0.5533</a:t>
            </a:r>
            <a:r>
              <a:rPr lang="en-US" sz="1800" dirty="0"/>
              <a:t>, </a:t>
            </a:r>
            <a:r>
              <a:rPr lang="en-US" sz="1800" b="1" dirty="0"/>
              <a:t>RMSE</a:t>
            </a:r>
            <a:r>
              <a:rPr lang="en-US" sz="1800" dirty="0"/>
              <a:t> of 0.4374**, and </a:t>
            </a:r>
            <a:r>
              <a:rPr lang="en-US" sz="1800" b="1" dirty="0"/>
              <a:t>MAE of 0.3359</a:t>
            </a:r>
            <a:r>
              <a:rPr lang="en-US" sz="1800" dirty="0"/>
              <a:t> on the test dataset. The model can estimate prices for new Airbnb listings, such as the demonstrated </a:t>
            </a:r>
            <a:r>
              <a:rPr lang="en-US" sz="1800" b="1" dirty="0"/>
              <a:t>$136.92 per-night estimate</a:t>
            </a:r>
            <a:r>
              <a:rPr lang="en-US" sz="18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A30C-B1CA-8F1D-FB4E-EA21C5DC67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4148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1280</TotalTime>
  <Words>701</Words>
  <Application>Microsoft Office PowerPoint</Application>
  <PresentationFormat>On-screen Show (4:3)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Arial-BoldMT</vt:lpstr>
      <vt:lpstr>ArialMT</vt:lpstr>
      <vt:lpstr>Century Gothic</vt:lpstr>
      <vt:lpstr>Wingdings 3</vt:lpstr>
      <vt:lpstr>Ion</vt:lpstr>
      <vt:lpstr>Project- Part A: Airbnb Price Prediction and Insights</vt:lpstr>
      <vt:lpstr>Project Overview</vt:lpstr>
      <vt:lpstr>Problem Statement</vt:lpstr>
      <vt:lpstr>1. Data Collection  Dataset Information: CSV File Load the dataset and IMPORT Python Libraries</vt:lpstr>
      <vt:lpstr>2. Data Cleaning  </vt:lpstr>
      <vt:lpstr>3. Data Exploratory and Analysis  </vt:lpstr>
      <vt:lpstr>4. Data Preprocessing  Boxplot Outlier Analysis </vt:lpstr>
      <vt:lpstr>5. Feature Engineering  Amenities Column </vt:lpstr>
      <vt:lpstr>6. Data Modeling</vt:lpstr>
      <vt:lpstr>7. Data Evaluation: Cross Validation  Results: Linear Regression provided the best R², but ensemble methods like Random Forest showed better overall robustness. </vt:lpstr>
      <vt:lpstr>8. Model Selection and Comparison</vt:lpstr>
      <vt:lpstr>9. Final Model Selection &amp; Evaluation</vt:lpstr>
      <vt:lpstr>10. Prediction: Enter User Input</vt:lpstr>
      <vt:lpstr>Key Insights:</vt:lpstr>
      <vt:lpstr>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Satish</cp:lastModifiedBy>
  <cp:revision>18</cp:revision>
  <dcterms:created xsi:type="dcterms:W3CDTF">2013-01-27T09:14:16Z</dcterms:created>
  <dcterms:modified xsi:type="dcterms:W3CDTF">2026-08-19T11:57:29Z</dcterms:modified>
  <cp:category/>
</cp:coreProperties>
</file>