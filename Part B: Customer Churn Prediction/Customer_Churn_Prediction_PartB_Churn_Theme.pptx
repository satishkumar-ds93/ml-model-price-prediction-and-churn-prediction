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7" r:id="rId2"/>
    <p:sldId id="256" r:id="rId3"/>
    <p:sldId id="257" r:id="rId4"/>
    <p:sldId id="268" r:id="rId5"/>
    <p:sldId id="269" r:id="rId6"/>
    <p:sldId id="270" r:id="rId7"/>
    <p:sldId id="276" r:id="rId8"/>
    <p:sldId id="271" r:id="rId9"/>
    <p:sldId id="272" r:id="rId10"/>
    <p:sldId id="277" r:id="rId11"/>
    <p:sldId id="273" r:id="rId12"/>
    <p:sldId id="278" r:id="rId13"/>
    <p:sldId id="260" r:id="rId14"/>
    <p:sldId id="279" r:id="rId15"/>
    <p:sldId id="266" r:id="rId16"/>
    <p:sldId id="262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07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00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82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1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6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273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17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3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1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11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7144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96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8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30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20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4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89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1166D-011A-46C9-6BA5-F4C7814FA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0902" y="830275"/>
            <a:ext cx="6868483" cy="745028"/>
          </a:xfrm>
        </p:spPr>
        <p:txBody>
          <a:bodyPr/>
          <a:lstStyle/>
          <a:p>
            <a:r>
              <a:rPr lang="en-US" sz="2400" b="1" i="0" u="none" strike="noStrike" baseline="0" dirty="0">
                <a:solidFill>
                  <a:srgbClr val="45B1E2"/>
                </a:solidFill>
                <a:latin typeface="Arial-BoldMT"/>
              </a:rPr>
              <a:t>Project-Part B: Customer Churn Prediction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64C8D-9656-62D6-3E72-843516C6A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0903" y="5725527"/>
            <a:ext cx="7956485" cy="604396"/>
          </a:xfrm>
        </p:spPr>
        <p:txBody>
          <a:bodyPr>
            <a:normAutofit/>
          </a:bodyPr>
          <a:lstStyle/>
          <a:p>
            <a:r>
              <a:rPr lang="en-US" b="1" dirty="0"/>
              <a:t>Submitted by: Satish Kumar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2327A1-0D11-369F-AA4B-69F848C69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3" y="1648874"/>
            <a:ext cx="6868483" cy="381000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29B25FB-2DA2-2203-41F9-C5C0F4C872FA}"/>
              </a:ext>
            </a:extLst>
          </p:cNvPr>
          <p:cNvSpPr txBox="1">
            <a:spLocks/>
          </p:cNvSpPr>
          <p:nvPr/>
        </p:nvSpPr>
        <p:spPr>
          <a:xfrm>
            <a:off x="1000901" y="85247"/>
            <a:ext cx="6868483" cy="7450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u="sng" dirty="0">
                <a:solidFill>
                  <a:schemeClr val="tx1"/>
                </a:solidFill>
                <a:latin typeface="Arial-BoldMT"/>
              </a:rPr>
              <a:t>MACHINE LEARNING</a:t>
            </a:r>
            <a:endParaRPr lang="en-IN" sz="3200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056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179" y="1639567"/>
            <a:ext cx="7731684" cy="4195481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r>
              <a:rPr dirty="0"/>
              <a:t>Customer churn</a:t>
            </a:r>
            <a:r>
              <a:rPr lang="en-US" dirty="0"/>
              <a:t>, or customer attrition, refers to when a customer ceases their relationship with a company or service provider, 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lang="en-US" b="1" u="sng" dirty="0"/>
              <a:t>Aims</a:t>
            </a:r>
            <a:r>
              <a:rPr lang="en-US" dirty="0"/>
              <a:t>: </a:t>
            </a:r>
            <a:r>
              <a:rPr lang="en-US" sz="1800" dirty="0"/>
              <a:t>to build a machine learning model that can predict whether a customer will churn based on their demographic, account, and service-related data.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lang="en-US" sz="1800" dirty="0"/>
              <a:t>Predicting customer churn can help organizations take proactive steps to retain customers, thus minimizing revenue loss. </a:t>
            </a:r>
            <a:endParaRPr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b="1" u="sng" dirty="0"/>
              <a:t>Goal</a:t>
            </a:r>
            <a:r>
              <a:rPr b="1" dirty="0"/>
              <a:t>: </a:t>
            </a:r>
            <a:r>
              <a:rPr dirty="0"/>
              <a:t>Predict churn using demographic, account, and service data to improve retention.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dirty="0"/>
              <a:t>Problem Statement</a:t>
            </a:r>
            <a:r>
              <a:rPr lang="en-IN" dirty="0"/>
              <a:t> &amp; Objective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2052925"/>
            <a:ext cx="8509388" cy="4195481"/>
          </a:xfrm>
        </p:spPr>
        <p:txBody>
          <a:bodyPr/>
          <a:lstStyle/>
          <a:p>
            <a:pPr>
              <a:defRPr sz="1800"/>
            </a:pPr>
            <a:r>
              <a:rPr lang="en-US" u="sng" dirty="0"/>
              <a:t>Objective</a:t>
            </a:r>
            <a:r>
              <a:rPr lang="en-US" dirty="0"/>
              <a:t>: to d</a:t>
            </a:r>
            <a:r>
              <a:rPr dirty="0"/>
              <a:t>evelop a classification model to predict customer churn.</a:t>
            </a:r>
            <a:endParaRPr lang="en-US" dirty="0"/>
          </a:p>
          <a:p>
            <a:pPr>
              <a:defRPr sz="1800"/>
            </a:pPr>
            <a:endParaRPr lang="en-IN" dirty="0"/>
          </a:p>
          <a:p>
            <a:pPr algn="l"/>
            <a:r>
              <a:rPr lang="en-US" sz="1800" b="0" i="0" u="none" strike="noStrike" baseline="0" dirty="0">
                <a:latin typeface="ArialMT"/>
              </a:rPr>
              <a:t>Using demographic data (such as gender, senior citizen status, and tenure), along.</a:t>
            </a:r>
          </a:p>
          <a:p>
            <a:pPr marL="0" indent="0" algn="l">
              <a:buNone/>
            </a:pPr>
            <a:endParaRPr lang="en-US" sz="1800" b="0" i="0" u="none" strike="noStrike" baseline="0" dirty="0">
              <a:latin typeface="ArialMT"/>
            </a:endParaRPr>
          </a:p>
          <a:p>
            <a:pPr algn="l"/>
            <a:r>
              <a:rPr lang="en-US" sz="1800" b="0" i="0" u="none" strike="noStrike" baseline="0" dirty="0">
                <a:latin typeface="ArialMT"/>
              </a:rPr>
              <a:t>With information about the services, they use (such as internet service, phone service, and </a:t>
            </a:r>
            <a:r>
              <a:rPr lang="en-IN" sz="1800" b="0" i="0" u="none" strike="noStrike" baseline="0" dirty="0">
                <a:latin typeface="ArialMT"/>
              </a:rPr>
              <a:t>online security),</a:t>
            </a:r>
          </a:p>
          <a:p>
            <a:pPr marL="0" indent="0" algn="l">
              <a:buNone/>
            </a:pPr>
            <a:endParaRPr dirty="0"/>
          </a:p>
          <a:p>
            <a:pPr>
              <a:defRPr sz="1800"/>
            </a:pPr>
            <a:r>
              <a:rPr dirty="0"/>
              <a:t>Help the company identify high-risk customers and design retention strategies.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1. Data Collection</a:t>
            </a:r>
            <a:br>
              <a:rPr lang="en-US" dirty="0"/>
            </a:br>
            <a:br>
              <a:rPr lang="en-US" dirty="0"/>
            </a:br>
            <a:r>
              <a:rPr dirty="0"/>
              <a:t>Dataset Information</a:t>
            </a:r>
            <a:r>
              <a:rPr lang="en-US" dirty="0"/>
              <a:t>: CSV File</a:t>
            </a:r>
            <a:br>
              <a:rPr lang="en-US" dirty="0"/>
            </a:br>
            <a:r>
              <a:rPr lang="en-US" sz="2400" dirty="0"/>
              <a:t>Load the dataset and IMPORT Python Libraries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2836696"/>
            <a:ext cx="6711654" cy="4195481"/>
          </a:xfrm>
        </p:spPr>
        <p:txBody>
          <a:bodyPr/>
          <a:lstStyle/>
          <a:p>
            <a:pPr>
              <a:defRPr sz="1800"/>
            </a:pPr>
            <a:r>
              <a:rPr dirty="0"/>
              <a:t>Dataset: </a:t>
            </a:r>
            <a:r>
              <a:rPr lang="en-US" dirty="0"/>
              <a:t>Customer</a:t>
            </a:r>
            <a:r>
              <a:rPr dirty="0"/>
              <a:t> data</a:t>
            </a:r>
            <a:endParaRPr lang="en-US" dirty="0"/>
          </a:p>
          <a:p>
            <a:pPr marL="0" indent="0">
              <a:buNone/>
              <a:defRPr sz="1800"/>
            </a:pPr>
            <a:endParaRPr dirty="0"/>
          </a:p>
          <a:p>
            <a:pPr>
              <a:defRPr sz="1800"/>
            </a:pPr>
            <a:r>
              <a:rPr dirty="0"/>
              <a:t>Includes:</a:t>
            </a:r>
            <a:endParaRPr lang="en-US" dirty="0"/>
          </a:p>
          <a:p>
            <a:pPr marL="0" indent="0">
              <a:buNone/>
              <a:defRPr sz="1800"/>
            </a:pPr>
            <a:r>
              <a:rPr lang="en-IN" dirty="0"/>
              <a:t>                  </a:t>
            </a:r>
            <a:r>
              <a:rPr lang="en-US" dirty="0"/>
              <a:t>- Demographics</a:t>
            </a:r>
          </a:p>
          <a:p>
            <a:pPr marL="0" indent="0">
              <a:buNone/>
              <a:defRPr sz="1800"/>
            </a:pPr>
            <a:r>
              <a:rPr lang="en-US" dirty="0"/>
              <a:t>                  - Service usage</a:t>
            </a:r>
          </a:p>
          <a:p>
            <a:pPr marL="0" indent="0">
              <a:buNone/>
              <a:defRPr sz="1800"/>
            </a:pPr>
            <a:r>
              <a:rPr lang="en-US" dirty="0"/>
              <a:t>                  - Account info</a:t>
            </a:r>
          </a:p>
          <a:p>
            <a:pPr marL="0" indent="0">
              <a:buNone/>
              <a:defRPr sz="1800"/>
            </a:pPr>
            <a:r>
              <a:rPr lang="en-US" dirty="0"/>
              <a:t>                  - Payment methods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9D923-40DE-CC2F-9FD0-A7B162E16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122" y="2836697"/>
            <a:ext cx="4661640" cy="26217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14C5-4B26-AEF5-B867-8E00B058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36289-0CD6-5F8B-35EE-4298F8C4F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09" y="452718"/>
            <a:ext cx="7310175" cy="1400530"/>
          </a:xfrm>
        </p:spPr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2. Data Cleaning</a:t>
            </a:r>
            <a:br>
              <a:rPr lang="en-US" dirty="0"/>
            </a:br>
            <a:br>
              <a:rPr lang="en-US" dirty="0"/>
            </a:br>
            <a:endParaRPr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FBBF7-92F3-1704-4918-9230FA34F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853248"/>
            <a:ext cx="6711654" cy="4195481"/>
          </a:xfrm>
        </p:spPr>
        <p:txBody>
          <a:bodyPr/>
          <a:lstStyle/>
          <a:p>
            <a:pPr>
              <a:defRPr sz="1800"/>
            </a:pPr>
            <a:r>
              <a:rPr lang="en-US" dirty="0"/>
              <a:t>Finding Missing values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Null values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6F1CA5-6F72-EC0C-F932-F48EC1E41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48" y="1238474"/>
            <a:ext cx="4404742" cy="51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81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2476-2CE0-6E64-30DB-2FCF796FE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0953C-AFFA-913B-81A8-0D85D777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3. Data Exploratory and Analysis</a:t>
            </a:r>
            <a:br>
              <a:rPr lang="en-US" dirty="0"/>
            </a:br>
            <a:br>
              <a:rPr lang="en-US" dirty="0"/>
            </a:b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55F90-5B54-936A-7E6E-69F4B18F0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09" y="1331259"/>
            <a:ext cx="3842193" cy="2298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41E6D3-3EFC-7A14-7316-61FC9ABD9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28917"/>
            <a:ext cx="4040156" cy="23004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20A5F-BA88-9F05-2CD1-6D8250640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08" y="3782960"/>
            <a:ext cx="3842193" cy="27384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C0A258-2161-6676-1F91-281E3A6768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754572"/>
            <a:ext cx="4040156" cy="276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10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8903-3363-FBA4-8F7F-0259EE4F0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E310-B694-CCEE-6CAD-3D1DC01A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09" y="452718"/>
            <a:ext cx="7310175" cy="1400530"/>
          </a:xfrm>
        </p:spPr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3. Data Processing</a:t>
            </a:r>
            <a:br>
              <a:rPr lang="en-US" dirty="0"/>
            </a:br>
            <a:br>
              <a:rPr lang="en-US" dirty="0"/>
            </a:br>
            <a:endParaRPr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E0DF9-6152-B8B3-6830-0F34D5DE2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09" y="1331259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lang="en-US" u="sng" dirty="0"/>
              <a:t>Box Plot Graph Analysis</a:t>
            </a:r>
          </a:p>
          <a:p>
            <a:r>
              <a:rPr lang="en-US" sz="1200" dirty="0"/>
              <a:t>The box plots </a:t>
            </a:r>
            <a:r>
              <a:rPr lang="en-US" sz="1200" b="1" dirty="0"/>
              <a:t>do not show major extreme outliers</a:t>
            </a:r>
            <a:r>
              <a:rPr lang="en-US" sz="1200" dirty="0"/>
              <a:t> in the continuous numerical variables.</a:t>
            </a:r>
          </a:p>
          <a:p>
            <a:r>
              <a:rPr lang="en-US" sz="1200" dirty="0"/>
              <a:t>Therefore, there is no strong evidence that the continuous variables require aggressive outlier removal.</a:t>
            </a:r>
          </a:p>
          <a:p>
            <a:r>
              <a:rPr lang="en-US" sz="1200" dirty="0"/>
              <a:t>Senior Citizen is binary and should be treated as a categorical/binary variable rather than as a continuous numerical variable</a:t>
            </a:r>
            <a:r>
              <a:rPr lang="en-US" dirty="0"/>
              <a:t>.</a:t>
            </a:r>
          </a:p>
          <a:p>
            <a:pPr marL="0" indent="0">
              <a:buNone/>
              <a:defRPr sz="1800"/>
            </a:pPr>
            <a:r>
              <a:rPr lang="en-US" u="sng" dirty="0"/>
              <a:t>Bar Graph Analysis</a:t>
            </a:r>
          </a:p>
          <a:p>
            <a:pPr marL="0" indent="0">
              <a:buNone/>
              <a:defRPr sz="1800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225614-036F-DCF3-183E-798DF8ED6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75" y="3791322"/>
            <a:ext cx="3958225" cy="28252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1F4C43-82B5-A920-7BF2-7D253874A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500" y="3791322"/>
            <a:ext cx="3958225" cy="282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1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CDA3C-290D-CDDF-AB20-E12515ED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B784B-65C6-1AD5-FCAF-AE6CAF4DA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4. Feature Engineering</a:t>
            </a:r>
            <a:br>
              <a:rPr lang="en-US" dirty="0"/>
            </a:br>
            <a:br>
              <a:rPr lang="en-US" dirty="0"/>
            </a:br>
            <a:endParaRPr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E3745-07BF-308E-84EA-89E733B61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09" y="1466749"/>
            <a:ext cx="6711654" cy="4195481"/>
          </a:xfrm>
        </p:spPr>
        <p:txBody>
          <a:bodyPr/>
          <a:lstStyle/>
          <a:p>
            <a:pPr>
              <a:defRPr sz="1800"/>
            </a:pPr>
            <a:r>
              <a:rPr lang="en-US" dirty="0"/>
              <a:t>Fill Missing Values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Correlation Heatmap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4D37AF-30D4-3072-06B0-06B816ADC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235" y="1321497"/>
            <a:ext cx="5341055" cy="48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908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5. Model Development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489254"/>
            <a:ext cx="8061468" cy="4195481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dirty="0"/>
              <a:t>1. </a:t>
            </a:r>
            <a:r>
              <a:rPr lang="en-IN" dirty="0"/>
              <a:t>Import all Model including SMOTE</a:t>
            </a:r>
            <a:endParaRPr lang="en-US" dirty="0"/>
          </a:p>
          <a:p>
            <a:pPr marL="0" indent="0">
              <a:buNone/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2.</a:t>
            </a:r>
            <a:r>
              <a:rPr lang="en-US" dirty="0"/>
              <a:t> Select Features and Target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r>
              <a:rPr lang="en-US" dirty="0"/>
              <a:t>3. Model Training/Testing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r>
              <a:rPr lang="en-US" dirty="0"/>
              <a:t>4. Preprocessing Pipeline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r>
              <a:rPr lang="en-US" dirty="0"/>
              <a:t>5. Model Selection Process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CF519-E2A9-121C-83FF-DE454A282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1EF83-F4C5-158D-37C8-397C7CBC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6. Model Selection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E12E7-462E-EA46-534C-A37ACC3A6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489254"/>
            <a:ext cx="8061468" cy="4195481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IN" b="1" dirty="0"/>
              <a:t>Create, Train and Evaluate the 3 Models</a:t>
            </a:r>
          </a:p>
          <a:p>
            <a:pPr marL="0" indent="0">
              <a:buNone/>
              <a:defRPr sz="1800"/>
            </a:pPr>
            <a:endParaRPr lang="en-IN" b="1" dirty="0"/>
          </a:p>
          <a:p>
            <a:pPr>
              <a:buAutoNum type="arabicPeriod"/>
              <a:defRPr sz="1800"/>
            </a:pPr>
            <a:r>
              <a:rPr lang="en-IN" dirty="0"/>
              <a:t>Logistic Regression: 73.74%</a:t>
            </a:r>
          </a:p>
          <a:p>
            <a:pPr>
              <a:buAutoNum type="arabicPeriod"/>
              <a:defRPr sz="1800"/>
            </a:pPr>
            <a:r>
              <a:rPr lang="en-IN" dirty="0"/>
              <a:t>Random Forest: 77.15%</a:t>
            </a:r>
          </a:p>
          <a:p>
            <a:pPr>
              <a:buAutoNum type="arabicPeriod"/>
              <a:defRPr sz="1800"/>
            </a:pPr>
            <a:r>
              <a:rPr lang="en-IN" dirty="0"/>
              <a:t>XGBoost (SMOTE): </a:t>
            </a:r>
            <a:r>
              <a:rPr lang="en-IN" b="1" dirty="0"/>
              <a:t>77.71%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EDE81D-80B5-5FC7-A4D6-12CECBC2B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444" y="2271531"/>
            <a:ext cx="4143846" cy="11574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4FA64F-1B55-5C2F-E57C-538E31E22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28" y="3669125"/>
            <a:ext cx="7883988" cy="305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93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2526C-1A94-DAC8-7397-FE5BF9F11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F5289-F5C9-7614-837E-6A2EB815A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7. Model Comparison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1F3C6-0D45-41BD-AE69-7F38A4F64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08" y="1212980"/>
            <a:ext cx="8742783" cy="4814595"/>
          </a:xfrm>
        </p:spPr>
        <p:txBody>
          <a:bodyPr>
            <a:normAutofit fontScale="92500"/>
          </a:bodyPr>
          <a:lstStyle/>
          <a:p>
            <a:pPr>
              <a:defRPr sz="1800"/>
            </a:pPr>
            <a:r>
              <a:rPr lang="en-US" dirty="0"/>
              <a:t>Evaluation Comparison:</a:t>
            </a:r>
          </a:p>
          <a:p>
            <a:pPr>
              <a:defRPr sz="1800"/>
            </a:pPr>
            <a:endParaRPr lang="en-US" sz="1800" b="0" i="0" dirty="0">
              <a:effectLst/>
              <a:latin typeface="system-ui"/>
            </a:endParaRPr>
          </a:p>
          <a:p>
            <a:pPr>
              <a:defRPr sz="1800"/>
            </a:pPr>
            <a:endParaRPr lang="en-US" sz="1800" dirty="0">
              <a:latin typeface="system-ui"/>
            </a:endParaRPr>
          </a:p>
          <a:p>
            <a:pPr>
              <a:defRPr sz="1800"/>
            </a:pPr>
            <a:endParaRPr lang="en-US" sz="1800" b="0" i="0" dirty="0">
              <a:effectLst/>
              <a:latin typeface="system-ui"/>
            </a:endParaRPr>
          </a:p>
          <a:p>
            <a:pPr>
              <a:defRPr sz="1800"/>
            </a:pPr>
            <a:endParaRPr lang="en-US" sz="1800" dirty="0">
              <a:latin typeface="system-ui"/>
            </a:endParaRPr>
          </a:p>
          <a:p>
            <a:pPr>
              <a:defRPr sz="1800"/>
            </a:pPr>
            <a:endParaRPr lang="en-IN" sz="1800" b="0" i="0" dirty="0">
              <a:effectLst/>
              <a:latin typeface="system-ui"/>
            </a:endParaRPr>
          </a:p>
          <a:p>
            <a:pPr algn="l">
              <a:buNone/>
            </a:pPr>
            <a:endParaRPr lang="en-IN" b="0" i="0" dirty="0">
              <a:effectLst/>
              <a:latin typeface="system-ui"/>
            </a:endParaRPr>
          </a:p>
          <a:p>
            <a:pPr algn="l">
              <a:buNone/>
            </a:pPr>
            <a:endParaRPr lang="en-IN" b="0" i="0" dirty="0">
              <a:effectLst/>
              <a:latin typeface="system-ui"/>
            </a:endParaRPr>
          </a:p>
          <a:p>
            <a:pPr algn="l">
              <a:buNone/>
            </a:pPr>
            <a:endParaRPr lang="en-IN" b="0" i="0" dirty="0">
              <a:effectLst/>
              <a:latin typeface="system-ui"/>
            </a:endParaRPr>
          </a:p>
          <a:p>
            <a:r>
              <a:rPr lang="en-IN" b="0" i="0" dirty="0">
                <a:effectLst/>
                <a:latin typeface="system-ui"/>
              </a:rPr>
              <a:t>XGBoost</a:t>
            </a:r>
            <a:r>
              <a:rPr lang="en-IN" dirty="0">
                <a:latin typeface="system-ui"/>
              </a:rPr>
              <a:t> </a:t>
            </a:r>
            <a:r>
              <a:rPr lang="en-IN" b="0" i="0" dirty="0">
                <a:effectLst/>
                <a:latin typeface="system-ui"/>
              </a:rPr>
              <a:t>performed slightly better in terms of accuracy.</a:t>
            </a:r>
          </a:p>
          <a:p>
            <a:pPr marL="0" indent="0">
              <a:buNone/>
            </a:pPr>
            <a:endParaRPr lang="en-IN" b="0" i="0" dirty="0">
              <a:effectLst/>
              <a:latin typeface="system-ui"/>
            </a:endParaRPr>
          </a:p>
          <a:p>
            <a:r>
              <a:rPr lang="en-IN" sz="1900" b="0" i="0" dirty="0">
                <a:effectLst/>
                <a:latin typeface="system-ui"/>
              </a:rPr>
              <a:t>Logistic Regression achieved high recall, making it useful when false negatives are costly.</a:t>
            </a:r>
          </a:p>
          <a:p>
            <a:endParaRPr lang="en-IN" b="0" i="0" dirty="0">
              <a:effectLst/>
              <a:latin typeface="system-ui"/>
            </a:endParaRPr>
          </a:p>
          <a:p>
            <a:pPr algn="l"/>
            <a:endParaRPr lang="en-IN" b="0" i="0" dirty="0">
              <a:effectLst/>
              <a:latin typeface="system-ui"/>
            </a:endParaRPr>
          </a:p>
          <a:p>
            <a:pPr marL="0" indent="0">
              <a:buNone/>
              <a:defRPr sz="1800"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998200-4397-1A9A-CBB6-E4E87BD57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347306"/>
              </p:ext>
            </p:extLst>
          </p:nvPr>
        </p:nvGraphicFramePr>
        <p:xfrm>
          <a:off x="696684" y="1719082"/>
          <a:ext cx="7750629" cy="2778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632">
                  <a:extLst>
                    <a:ext uri="{9D8B030D-6E8A-4147-A177-3AD203B41FA5}">
                      <a16:colId xmlns:a16="http://schemas.microsoft.com/office/drawing/2014/main" val="1430367651"/>
                    </a:ext>
                  </a:extLst>
                </a:gridCol>
                <a:gridCol w="1146062">
                  <a:extLst>
                    <a:ext uri="{9D8B030D-6E8A-4147-A177-3AD203B41FA5}">
                      <a16:colId xmlns:a16="http://schemas.microsoft.com/office/drawing/2014/main" val="3842341767"/>
                    </a:ext>
                  </a:extLst>
                </a:gridCol>
                <a:gridCol w="1276822">
                  <a:extLst>
                    <a:ext uri="{9D8B030D-6E8A-4147-A177-3AD203B41FA5}">
                      <a16:colId xmlns:a16="http://schemas.microsoft.com/office/drawing/2014/main" val="894238050"/>
                    </a:ext>
                  </a:extLst>
                </a:gridCol>
                <a:gridCol w="1169569">
                  <a:extLst>
                    <a:ext uri="{9D8B030D-6E8A-4147-A177-3AD203B41FA5}">
                      <a16:colId xmlns:a16="http://schemas.microsoft.com/office/drawing/2014/main" val="3836165424"/>
                    </a:ext>
                  </a:extLst>
                </a:gridCol>
                <a:gridCol w="1291772">
                  <a:extLst>
                    <a:ext uri="{9D8B030D-6E8A-4147-A177-3AD203B41FA5}">
                      <a16:colId xmlns:a16="http://schemas.microsoft.com/office/drawing/2014/main" val="4288324907"/>
                    </a:ext>
                  </a:extLst>
                </a:gridCol>
                <a:gridCol w="1291772">
                  <a:extLst>
                    <a:ext uri="{9D8B030D-6E8A-4147-A177-3AD203B41FA5}">
                      <a16:colId xmlns:a16="http://schemas.microsoft.com/office/drawing/2014/main" val="631609304"/>
                    </a:ext>
                  </a:extLst>
                </a:gridCol>
              </a:tblGrid>
              <a:tr h="694568">
                <a:tc>
                  <a:txBody>
                    <a:bodyPr/>
                    <a:lstStyle/>
                    <a:p>
                      <a:r>
                        <a:rPr lang="en-US" dirty="0"/>
                        <a:t>Statistical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Precision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F1-Score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ROC-AUC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625395"/>
                  </a:ext>
                </a:extLst>
              </a:tr>
              <a:tr h="694568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dirty="0">
                          <a:effectLst/>
                          <a:latin typeface="Maiandra GD" panose="020E0502030308020204" pitchFamily="34" charset="0"/>
                        </a:rPr>
                        <a:t>77.15% </a:t>
                      </a:r>
                      <a:endParaRPr lang="en-IN" b="0" dirty="0">
                        <a:latin typeface="Maiandra GD" panose="020E0502030308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dirty="0">
                          <a:effectLst/>
                          <a:latin typeface="Maiandra GD" panose="020E0502030308020204" pitchFamily="34" charset="0"/>
                        </a:rPr>
                        <a:t>57.30% </a:t>
                      </a:r>
                      <a:endParaRPr lang="en-IN" b="0" dirty="0">
                        <a:latin typeface="Maiandra GD" panose="020E0502030308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dirty="0">
                          <a:effectLst/>
                          <a:latin typeface="Maiandra GD" panose="020E0502030308020204" pitchFamily="34" charset="0"/>
                        </a:rPr>
                        <a:t>54.55% </a:t>
                      </a:r>
                      <a:endParaRPr lang="en-IN" b="0" dirty="0">
                        <a:latin typeface="Maiandra GD" panose="020E0502030308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dirty="0">
                          <a:effectLst/>
                          <a:latin typeface="Maiandra GD" panose="020E0502030308020204" pitchFamily="34" charset="0"/>
                        </a:rPr>
                        <a:t>55.89%</a:t>
                      </a:r>
                    </a:p>
                    <a:p>
                      <a:endParaRPr lang="en-IN" b="0" dirty="0">
                        <a:latin typeface="Maiandra GD" panose="020E0502030308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Maiandra GD" panose="020E0502030308020204" pitchFamily="34" charset="0"/>
                        </a:rPr>
                        <a:t>81.77%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503691"/>
                  </a:ext>
                </a:extLst>
              </a:tr>
              <a:tr h="694568">
                <a:tc>
                  <a:txBody>
                    <a:bodyPr/>
                    <a:lstStyle/>
                    <a:p>
                      <a:r>
                        <a:rPr lang="en-US" b="1" dirty="0"/>
                        <a:t>XG Boost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dirty="0">
                          <a:effectLst/>
                          <a:latin typeface="Maiandra GD" panose="020E0502030308020204" pitchFamily="34" charset="0"/>
                        </a:rPr>
                        <a:t>77.71% </a:t>
                      </a:r>
                      <a:endParaRPr lang="en-IN" b="1" dirty="0">
                        <a:latin typeface="Maiandra GD" panose="020E0502030308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Maiandra GD" panose="020E0502030308020204" pitchFamily="34" charset="0"/>
                        </a:rPr>
                        <a:t>57</a:t>
                      </a:r>
                      <a:r>
                        <a:rPr lang="en-IN" sz="1800" b="1" i="0" dirty="0">
                          <a:effectLst/>
                          <a:latin typeface="Maiandra GD" panose="020E0502030308020204" pitchFamily="34" charset="0"/>
                        </a:rPr>
                        <a:t>.04% </a:t>
                      </a:r>
                      <a:endParaRPr lang="en-IN" b="1" dirty="0">
                        <a:latin typeface="Maiandra GD" panose="020E0502030308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Maiandra GD" panose="020E0502030308020204" pitchFamily="34" charset="0"/>
                        </a:rPr>
                        <a:t>64</a:t>
                      </a:r>
                      <a:r>
                        <a:rPr lang="en-IN" sz="1800" b="1" i="0" dirty="0">
                          <a:effectLst/>
                          <a:latin typeface="Maiandra GD" panose="020E0502030308020204" pitchFamily="34" charset="0"/>
                        </a:rPr>
                        <a:t>.97% </a:t>
                      </a:r>
                      <a:endParaRPr lang="en-IN" b="1" dirty="0">
                        <a:latin typeface="Maiandra GD" panose="020E0502030308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Maiandra GD" panose="020E0502030308020204" pitchFamily="34" charset="0"/>
                        </a:rPr>
                        <a:t>60</a:t>
                      </a:r>
                      <a:r>
                        <a:rPr lang="en-IN" sz="1800" b="1" i="0" dirty="0">
                          <a:effectLst/>
                          <a:latin typeface="Maiandra GD" panose="020E0502030308020204" pitchFamily="34" charset="0"/>
                        </a:rPr>
                        <a:t>.75%</a:t>
                      </a:r>
                    </a:p>
                    <a:p>
                      <a:endParaRPr lang="en-IN" b="1" dirty="0">
                        <a:latin typeface="Maiandra GD" panose="020E0502030308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Maiandra GD" panose="020E0502030308020204" pitchFamily="34" charset="0"/>
                        </a:rPr>
                        <a:t>84.16%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4708"/>
                  </a:ext>
                </a:extLst>
              </a:tr>
              <a:tr h="694568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dirty="0">
                          <a:effectLst/>
                          <a:latin typeface="Maiandra GD" panose="020E0502030308020204" pitchFamily="34" charset="0"/>
                        </a:rPr>
                        <a:t>73.74%</a:t>
                      </a:r>
                      <a:endParaRPr lang="en-IN" dirty="0">
                        <a:latin typeface="Maiandra GD" panose="020E0502030308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dirty="0">
                          <a:effectLst/>
                          <a:latin typeface="Maiandra GD" panose="020E0502030308020204" pitchFamily="34" charset="0"/>
                        </a:rPr>
                        <a:t>50.34%</a:t>
                      </a:r>
                      <a:endParaRPr lang="en-IN" dirty="0">
                        <a:latin typeface="Maiandra GD" panose="020E0502030308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dirty="0">
                          <a:effectLst/>
                          <a:latin typeface="Maiandra GD" panose="020E0502030308020204" pitchFamily="34" charset="0"/>
                        </a:rPr>
                        <a:t>79.41% </a:t>
                      </a:r>
                      <a:endParaRPr lang="en-IN" dirty="0">
                        <a:latin typeface="Maiandra GD" panose="020E0502030308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dirty="0">
                          <a:effectLst/>
                          <a:latin typeface="Maiandra GD" panose="020E0502030308020204" pitchFamily="34" charset="0"/>
                        </a:rPr>
                        <a:t>61.62%</a:t>
                      </a:r>
                    </a:p>
                    <a:p>
                      <a:endParaRPr lang="en-IN" dirty="0">
                        <a:latin typeface="Maiandra GD" panose="020E0502030308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Maiandra GD" panose="020E0502030308020204" pitchFamily="34" charset="0"/>
                        </a:rPr>
                        <a:t>84.01%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842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029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A8E55-E861-5178-C4D6-EB154F29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3B63-CEF0-895C-A16A-AF600DA2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8. Hyperparameter Tuning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C4BE4-71DD-1E04-F82E-7CC9E8DA6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489254"/>
            <a:ext cx="8061468" cy="4195481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IN" b="1" dirty="0"/>
              <a:t>Evaluate the Tuned 3 Models</a:t>
            </a:r>
          </a:p>
          <a:p>
            <a:pPr marL="0" indent="0">
              <a:buNone/>
              <a:defRPr sz="1800"/>
            </a:pPr>
            <a:endParaRPr lang="en-IN" b="1" dirty="0"/>
          </a:p>
          <a:p>
            <a:pPr>
              <a:buAutoNum type="arabicPeriod"/>
              <a:defRPr sz="1800"/>
            </a:pPr>
            <a:r>
              <a:rPr lang="en-IN" dirty="0"/>
              <a:t>Logistic Regression: 74.31%</a:t>
            </a:r>
          </a:p>
          <a:p>
            <a:pPr>
              <a:buAutoNum type="arabicPeriod"/>
              <a:defRPr sz="1800"/>
            </a:pPr>
            <a:r>
              <a:rPr lang="en-IN" dirty="0"/>
              <a:t>Random Forest: 76.72%</a:t>
            </a:r>
          </a:p>
          <a:p>
            <a:pPr>
              <a:buAutoNum type="arabicPeriod"/>
              <a:defRPr sz="1800"/>
            </a:pPr>
            <a:r>
              <a:rPr lang="en-IN" dirty="0"/>
              <a:t>XGBoost (SMOTE): </a:t>
            </a:r>
            <a:r>
              <a:rPr lang="en-IN" b="1" dirty="0"/>
              <a:t>77.00%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r>
              <a:rPr lang="en-US" sz="1800" b="1" dirty="0"/>
              <a:t>Results:</a:t>
            </a:r>
          </a:p>
          <a:p>
            <a:pPr marL="0" indent="0">
              <a:buNone/>
              <a:defRPr sz="1800"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en-US" sz="1800" dirty="0"/>
              <a:t>XG Boost has BEST F1 Score with </a:t>
            </a:r>
            <a:r>
              <a:rPr lang="en-US" sz="1800" b="1" dirty="0"/>
              <a:t>62% </a:t>
            </a:r>
            <a:r>
              <a:rPr lang="en-US" sz="1800" dirty="0"/>
              <a:t>and overall accuracy is </a:t>
            </a:r>
            <a:r>
              <a:rPr lang="en-US" sz="1800" b="1" dirty="0"/>
              <a:t>77%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D31DC2-8FA2-0D9F-A00B-A181E49E6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962" y="2093345"/>
            <a:ext cx="4473328" cy="14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465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9. Final Model Selection: XG Boost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461242"/>
            <a:ext cx="8659290" cy="41954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en-IN" dirty="0"/>
              <a:t>Model Performance: 77%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en-IN" dirty="0"/>
              <a:t>Confusion Matrix: False Negative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en-IN" dirty="0"/>
              <a:t>ROC-AUC Curve: 83.72</a:t>
            </a:r>
          </a:p>
          <a:p>
            <a:pPr marL="0" indent="0">
              <a:buNone/>
              <a:defRPr sz="1800"/>
            </a:pPr>
            <a:endParaRPr lang="en-IN" dirty="0"/>
          </a:p>
          <a:p>
            <a:pPr marL="0" indent="0">
              <a:buNone/>
              <a:defRPr sz="1800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D30E55-D701-4AF0-E304-D4FE34B3E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674" y="1201277"/>
            <a:ext cx="3231712" cy="14333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8F5FDC-7BF0-CFD5-3255-0FA752B7A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89" y="3056234"/>
            <a:ext cx="3840325" cy="32421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44532E-BBA7-2335-7707-5927D4B4D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788" y="3048107"/>
            <a:ext cx="3943494" cy="32502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912F0-B4C9-CE5F-4B4F-B4713A76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41678-98BA-6AB1-1188-35C1E18E5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10. Customer Prediction: Result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DBD65-F677-515A-F74C-9CC5420D8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489254"/>
            <a:ext cx="8061468" cy="4195481"/>
          </a:xfrm>
        </p:spPr>
        <p:txBody>
          <a:bodyPr/>
          <a:lstStyle/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6F4FE7-B111-CBD4-ABE7-92BE5327D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22" y="1213919"/>
            <a:ext cx="7886346" cy="3351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C6B157-5F93-7C2D-DBA4-F56A7AF72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61" y="4684917"/>
            <a:ext cx="5859765" cy="183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554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IN" dirty="0"/>
              <a:t>Key Insights: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869" y="1378393"/>
            <a:ext cx="8344262" cy="4852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1. Customer churn is imbalanced</a:t>
            </a:r>
            <a:r>
              <a:rPr lang="en-US" sz="1200" dirty="0"/>
              <a:t> — non-churners are significantly higher than churners, making churn   detection      more challenging.</a:t>
            </a:r>
          </a:p>
          <a:p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2. Senior citizens show higher churn tendency</a:t>
            </a:r>
            <a:r>
              <a:rPr lang="en-US" sz="1200" dirty="0"/>
              <a:t>, indicating this group may require additional retention attention.</a:t>
            </a:r>
          </a:p>
          <a:p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3. Fiber optic customers have higher churn</a:t>
            </a:r>
            <a:r>
              <a:rPr lang="en-US" sz="1200" dirty="0"/>
              <a:t> compared with DSL customers, suggesting possible concerns related to pricing, service quality, or reliability.</a:t>
            </a:r>
          </a:p>
          <a:p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4. Customers with higher Monthly Charges tend to churn more</a:t>
            </a:r>
            <a:r>
              <a:rPr lang="en-US" sz="1200" dirty="0"/>
              <a:t>, indicating possible price sensitivity.</a:t>
            </a:r>
          </a:p>
          <a:p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5. Short-tenure customers are more likely to churn</a:t>
            </a:r>
            <a:r>
              <a:rPr lang="en-US" sz="1200" dirty="0"/>
              <a:t>, making the early customer lifecycle an important retention period.</a:t>
            </a:r>
          </a:p>
          <a:p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6. Electronic-check users have the highest churn rate</a:t>
            </a:r>
            <a:r>
              <a:rPr lang="en-US" sz="1200" dirty="0"/>
              <a:t> among payment methods analyzed.</a:t>
            </a:r>
          </a:p>
          <a:p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7. Month-to-month contracts are a major churn-risk segment</a:t>
            </a:r>
            <a:r>
              <a:rPr lang="en-US" sz="1200" dirty="0"/>
              <a:t>, as shown by the contract analysis and model results.</a:t>
            </a:r>
          </a:p>
          <a:p>
            <a:pPr marL="0" indent="0">
              <a:buNone/>
            </a:pPr>
            <a:endParaRPr lang="en-US" sz="12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IN" dirty="0"/>
              <a:t>Recommendations</a:t>
            </a:r>
            <a:r>
              <a:rPr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385879"/>
            <a:ext cx="5517422" cy="408624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Target short-tenure customers</a:t>
            </a:r>
          </a:p>
          <a:p>
            <a:pPr marL="0" indent="0">
              <a:buNone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Encourage longer-term contracts</a:t>
            </a:r>
          </a:p>
          <a:p>
            <a:pPr marL="0" indent="0">
              <a:buNone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Improve Fiber Optic service</a:t>
            </a:r>
          </a:p>
          <a:p>
            <a:pPr marL="0" indent="0">
              <a:buNone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Address high monthly charges</a:t>
            </a:r>
          </a:p>
          <a:p>
            <a:pPr marL="0" indent="0">
              <a:buNone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Promote alternative payment methods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4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Create targeted senior-citizen retention programs</a:t>
            </a:r>
          </a:p>
          <a:p>
            <a:pPr marL="0" indent="0">
              <a:buNone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Use the churn model for targeted campaigns</a:t>
            </a:r>
          </a:p>
          <a:p>
            <a:pPr marL="0" indent="0">
              <a:buNone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Monitor churn continuously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6069-1163-D8A0-D4DF-9A74E1295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69136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448</TotalTime>
  <Words>680</Words>
  <Application>Microsoft Office PowerPoint</Application>
  <PresentationFormat>On-screen Show (4:3)</PresentationFormat>
  <Paragraphs>148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Arial-BoldMT</vt:lpstr>
      <vt:lpstr>ArialMT</vt:lpstr>
      <vt:lpstr>Century Gothic</vt:lpstr>
      <vt:lpstr>Maiandra GD</vt:lpstr>
      <vt:lpstr>system-ui</vt:lpstr>
      <vt:lpstr>Wingdings</vt:lpstr>
      <vt:lpstr>Wingdings 3</vt:lpstr>
      <vt:lpstr>Ion</vt:lpstr>
      <vt:lpstr>Project-Part B: Customer Churn Prediction</vt:lpstr>
      <vt:lpstr>Project Overview</vt:lpstr>
      <vt:lpstr>Problem Statement &amp; Objective</vt:lpstr>
      <vt:lpstr>1. Data Collection  Dataset Information: CSV File Load the dataset and IMPORT Python Libraries</vt:lpstr>
      <vt:lpstr>2. Data Cleaning  </vt:lpstr>
      <vt:lpstr>3. Data Exploratory and Analysis  </vt:lpstr>
      <vt:lpstr>3. Data Processing  </vt:lpstr>
      <vt:lpstr>4. Feature Engineering  </vt:lpstr>
      <vt:lpstr>5. Model Development</vt:lpstr>
      <vt:lpstr>6. Model Selection</vt:lpstr>
      <vt:lpstr>7. Model Comparison</vt:lpstr>
      <vt:lpstr>8. Hyperparameter Tuning </vt:lpstr>
      <vt:lpstr>9. Final Model Selection: XG Boost</vt:lpstr>
      <vt:lpstr>10. Customer Prediction: Result</vt:lpstr>
      <vt:lpstr>Key Insights:</vt:lpstr>
      <vt:lpstr>Recommendations: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Satish</cp:lastModifiedBy>
  <cp:revision>17</cp:revision>
  <dcterms:created xsi:type="dcterms:W3CDTF">2013-01-27T09:14:16Z</dcterms:created>
  <dcterms:modified xsi:type="dcterms:W3CDTF">2026-08-19T13:49:47Z</dcterms:modified>
  <cp:category/>
</cp:coreProperties>
</file>